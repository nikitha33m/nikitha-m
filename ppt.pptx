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9" r:id="rId21"/>
    <p:sldId id="275" r:id="rId22"/>
    <p:sldId id="276" r:id="rId23"/>
    <p:sldId id="277" r:id="rId24"/>
    <p:sldId id="278" r:id="rId25"/>
  </p:sldIdLst>
  <p:sldSz cx="9144000" cy="5143500" type="screen16x9"/>
  <p:notesSz cx="5143500" cy="91440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9A4644A-9B7A-4D92-A59B-C3D36C9973C5}">
  <a:tblStyle styleId="{19A4644A-9B7A-4D92-A59B-C3D36C9973C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7EB599CC-3C25-43D8-9DA9-8CB90696093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EB0943C-6F6F-4075-874C-0561493E968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50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0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3b742fc217068b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43b742fc217068b7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g43b742fc217068b7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4d9bc32234d9b9d5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4" name="Google Shape;464;g4d9bc32234d9b9d5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g4d9bc32234d9b9d5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"/>
          <p:cNvSpPr txBox="1"/>
          <p:nvPr/>
        </p:nvSpPr>
        <p:spPr>
          <a:xfrm>
            <a:off x="1309767" y="225399"/>
            <a:ext cx="9144000" cy="5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UNIVERSITY OF AGRICULTURAL SCIENCES</a:t>
            </a:r>
            <a:endParaRPr sz="2400" b="1" i="0" u="none" strike="noStrike" cap="none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"/>
          <p:cNvSpPr txBox="1"/>
          <p:nvPr/>
        </p:nvSpPr>
        <p:spPr>
          <a:xfrm>
            <a:off x="2268087" y="775601"/>
            <a:ext cx="9144000" cy="5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GKVK, BANGALORE - 560065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5" name="Google Shape;42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9911" y="1416940"/>
            <a:ext cx="1834039" cy="1640312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1"/>
          <p:cNvSpPr txBox="1"/>
          <p:nvPr/>
        </p:nvSpPr>
        <p:spPr>
          <a:xfrm>
            <a:off x="2664405" y="3057252"/>
            <a:ext cx="91440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rgbClr val="980000"/>
                </a:solidFill>
              </a:rPr>
              <a:t>College of Agriculture</a:t>
            </a:r>
            <a:endParaRPr sz="2400" b="1" i="0" u="none" strike="noStrike" cap="none" dirty="0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"/>
          <p:cNvSpPr txBox="1"/>
          <p:nvPr/>
        </p:nvSpPr>
        <p:spPr>
          <a:xfrm>
            <a:off x="0" y="3665352"/>
            <a:ext cx="8315324" cy="145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rgbClr val="980000"/>
                </a:solidFill>
              </a:rPr>
              <a:t>                                    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COURSE: EAI421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                 Applications of AI &amp; ML in Agriculture</a:t>
            </a:r>
            <a:endParaRPr sz="24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74320" y="54864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University of Agricultural Sciences, Bengaluru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93776" y="457200"/>
            <a:ext cx="8229600" cy="17830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" name="Shape 4"/>
          <p:cNvSpPr/>
          <p:nvPr/>
        </p:nvSpPr>
        <p:spPr>
          <a:xfrm>
            <a:off x="475488" y="457200"/>
            <a:ext cx="73152" cy="17830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416052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AI-Based Livestock Disease Prediction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Improved Agribusiness Profitability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49808" y="1563624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Using Random Forest Classifier  |  Python  |  Google Colaboratory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63149"/>
              </p:ext>
            </p:extLst>
          </p:nvPr>
        </p:nvGraphicFramePr>
        <p:xfrm>
          <a:off x="457200" y="2729484"/>
          <a:ext cx="8229600" cy="17297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b="1" dirty="0">
                        <a:solidFill>
                          <a:srgbClr val="1F3864"/>
                        </a:solidFill>
                        <a:latin typeface="Times New Roman" pitchFamily="34" charset="0"/>
                        <a:ea typeface="Times New Roman" pitchFamily="34" charset="-122"/>
                        <a:cs typeface="Times New Roman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SUBMITTED BY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b="1" dirty="0">
                        <a:solidFill>
                          <a:srgbClr val="1F3864"/>
                        </a:solidFill>
                        <a:latin typeface="Times New Roman" pitchFamily="34" charset="0"/>
                        <a:ea typeface="Times New Roman" pitchFamily="34" charset="-122"/>
                        <a:cs typeface="Times New Roman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SUBMITTED TO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 err="1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Achintya</a:t>
                      </a: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 R (BMB2002)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100" dirty="0" err="1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Ambika</a:t>
                      </a: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 A (BMB2007)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100" dirty="0" err="1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Nikitha</a:t>
                      </a:r>
                      <a:r>
                        <a:rPr lang="en-US" sz="1100" baseline="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 M (BMB2033)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IV B.Sc. (Hons.) Agriculture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College of Agriculture, UAS-B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Dr.</a:t>
                      </a:r>
                      <a:r>
                        <a:rPr lang="en-US" sz="1100" baseline="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Kumar Raja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EAI-421: Applications of AI &amp; ML in Agriculture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University of Agricultural Sciences, Bengaluru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74320" y="481888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Academic Year 2025 - 2026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365760" y="621792"/>
            <a:ext cx="4160400" cy="4206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365760" y="621792"/>
            <a:ext cx="54900" cy="42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493776" y="621792"/>
            <a:ext cx="3977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  Introduction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365760" y="1115568"/>
            <a:ext cx="4160400" cy="42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365760" y="1115568"/>
            <a:ext cx="54900" cy="42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493776" y="1115568"/>
            <a:ext cx="3977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  Problem Statement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365760" y="1609344"/>
            <a:ext cx="4160400" cy="4206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365760" y="1609344"/>
            <a:ext cx="54900" cy="42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493776" y="1609344"/>
            <a:ext cx="3977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  Motivation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365760" y="2103120"/>
            <a:ext cx="4160400" cy="42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365760" y="2103120"/>
            <a:ext cx="54900" cy="42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493776" y="2103120"/>
            <a:ext cx="3977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  Objectives of the Project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365760" y="2596896"/>
            <a:ext cx="4160400" cy="4206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365760" y="2596896"/>
            <a:ext cx="54900" cy="42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493776" y="2596896"/>
            <a:ext cx="3977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  Field Data Collection — RAWE Programme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365760" y="3090672"/>
            <a:ext cx="4160400" cy="42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365760" y="3090672"/>
            <a:ext cx="54900" cy="42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2"/>
          <p:cNvSpPr/>
          <p:nvPr/>
        </p:nvSpPr>
        <p:spPr>
          <a:xfrm>
            <a:off x="493776" y="3090672"/>
            <a:ext cx="3977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  Animals Treated and Observations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365760" y="3584448"/>
            <a:ext cx="4160400" cy="4206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"/>
          <p:cNvSpPr/>
          <p:nvPr/>
        </p:nvSpPr>
        <p:spPr>
          <a:xfrm>
            <a:off x="365760" y="3584448"/>
            <a:ext cx="54900" cy="42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"/>
          <p:cNvSpPr/>
          <p:nvPr/>
        </p:nvSpPr>
        <p:spPr>
          <a:xfrm>
            <a:off x="493776" y="3584448"/>
            <a:ext cx="3977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  Dataset Overview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365760" y="4078224"/>
            <a:ext cx="4160400" cy="42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365760" y="4078224"/>
            <a:ext cx="54900" cy="42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"/>
          <p:cNvSpPr/>
          <p:nvPr/>
        </p:nvSpPr>
        <p:spPr>
          <a:xfrm>
            <a:off x="493776" y="4078224"/>
            <a:ext cx="3977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  Feature Description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365760" y="4572000"/>
            <a:ext cx="4160400" cy="4206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365760" y="4572000"/>
            <a:ext cx="54900" cy="42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493776" y="4572000"/>
            <a:ext cx="3977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   Methodology / Approach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4800600" y="621792"/>
            <a:ext cx="4160400" cy="42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4800600" y="621792"/>
            <a:ext cx="54900" cy="42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4928616" y="621792"/>
            <a:ext cx="3977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 Algorithm — Random Forest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4800600" y="1115568"/>
            <a:ext cx="4160400" cy="4206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4800600" y="1115568"/>
            <a:ext cx="54900" cy="42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4928616" y="1115568"/>
            <a:ext cx="3977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11. Tools and Technologies Used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4800600" y="1609344"/>
            <a:ext cx="4160400" cy="42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4800600" y="1609344"/>
            <a:ext cx="54900" cy="42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4928616" y="1609344"/>
            <a:ext cx="3977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12. Results — Model Performance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4800600" y="2103120"/>
            <a:ext cx="4160400" cy="4206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4800600" y="2103120"/>
            <a:ext cx="54900" cy="42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4928616" y="2103120"/>
            <a:ext cx="3977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13. Results — Feature Importance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4800600" y="2596896"/>
            <a:ext cx="4160400" cy="42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4800600" y="2596896"/>
            <a:ext cx="54900" cy="42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4928616" y="2596896"/>
            <a:ext cx="3977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14. Results — Code Output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4800600" y="3090672"/>
            <a:ext cx="4160400" cy="4206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4800600" y="3090672"/>
            <a:ext cx="54900" cy="42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4928616" y="3090672"/>
            <a:ext cx="3977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15. Discussion / Analysis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4800600" y="3584448"/>
            <a:ext cx="4160400" cy="42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4800600" y="3584448"/>
            <a:ext cx="54900" cy="42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4928616" y="3584448"/>
            <a:ext cx="3977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16. Conclusion and Future Work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4800600" y="4078224"/>
            <a:ext cx="4160400" cy="4206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4800600" y="4078224"/>
            <a:ext cx="54900" cy="42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"/>
          <p:cNvSpPr/>
          <p:nvPr/>
        </p:nvSpPr>
        <p:spPr>
          <a:xfrm>
            <a:off x="4928616" y="4078224"/>
            <a:ext cx="3977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17. References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                                                                                                                                   1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411480" y="594360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1.1  Background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411480" y="932688"/>
            <a:ext cx="83211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Livestock farming is one of the most important sectors of Indian agriculture, supporting over 70 million rural households and contributing approximately 4.11% to the national GDP. India has the world's largest livestock population, comprising cattle, buffaloes, sheep, goats, and poultry.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411480" y="1737360"/>
            <a:ext cx="83211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Diseases affecting livestock — such as Mastitis, Foot-and-Mouth Disease (FMD), and parasitic worm infestations — cause annual losses exceeding Rs. 26,000 crore in India. Early detection and timely treatment are the most effective means of reducing these losses.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411480" y="2542032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1.2  Need for AI-Based Prediction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411480" y="2871216"/>
            <a:ext cx="8321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rural Karnataka, the number of qualified veterinary doctors available per animal is critically low. Farmers are therefore unable to get timely professional help. An AI-based prediction system that uses simple, measurable animal health parameters can fill this gap — flagging sick animals early, without requiring a vet to be physically present.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411480" y="3840480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1.3  Scope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411480" y="4169664"/>
            <a:ext cx="83211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builds a Random Forest Classifier to predict whether a livestock animal is Healthy or Diseased, implemented in Python using Google Colaboratory.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— Project Overview                                                                                                2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411480" y="594360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does this project do?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11480" y="932688"/>
            <a:ext cx="83211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takes five easily measurable animal health parameters as input and predicts whether the animal is Healthy or Diseased. The prediction is made instantly using a trained Machine Learning model, without requiring laboratory tests or a vet visit.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11480" y="1755648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Parameters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11480" y="2084832"/>
            <a:ext cx="8321100" cy="4572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502920" y="2103120"/>
            <a:ext cx="36576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Body Temperature (degrees C)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160520" y="2103120"/>
            <a:ext cx="43890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Normal: approx. 38 C   |   Diseased: 40 - 42 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411480" y="2615184"/>
            <a:ext cx="83211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502920" y="2633472"/>
            <a:ext cx="36576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Heart Rate (bpm)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160520" y="2633472"/>
            <a:ext cx="43890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Normal: approx. 60 bpm  |   Diseased: 88 - 98 bpm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411480" y="3145536"/>
            <a:ext cx="8321100" cy="4572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02920" y="3163824"/>
            <a:ext cx="36576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 Level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4160520" y="3163824"/>
            <a:ext cx="43890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Normal: High             |   Diseased: Low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411480" y="3675888"/>
            <a:ext cx="83211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502920" y="3694176"/>
            <a:ext cx="36576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Milk Production (L/day)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4160520" y="3694176"/>
            <a:ext cx="43890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Normal: approx. 14 L    |   Diseased: 2 - 5 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411480" y="4206240"/>
            <a:ext cx="8321100" cy="4572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502920" y="4224528"/>
            <a:ext cx="36576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Respiratory Rate (br/min)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4160520" y="4224528"/>
            <a:ext cx="43890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Normal: approx. 18      |   Diseased: 28 - 35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r>
              <a:rPr lang="en-US" sz="17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</a:t>
            </a:r>
            <a:r>
              <a:rPr lang="en-US" sz="1700" b="1" dirty="0">
                <a:solidFill>
                  <a:srgbClr val="FFFFFF"/>
                </a:solidFill>
                <a:latin typeface="Times New Roman"/>
                <a:ea typeface="Calibri"/>
                <a:cs typeface="Times New Roman"/>
                <a:sym typeface="Times New Roman"/>
              </a:rPr>
              <a:t>3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320040" y="594360"/>
            <a:ext cx="8503800" cy="8778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320040" y="594360"/>
            <a:ext cx="594300" cy="877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320040" y="594360"/>
            <a:ext cx="5943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imes New Roman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1005840" y="685800"/>
            <a:ext cx="7680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 Disease Detection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1005840" y="978408"/>
            <a:ext cx="7680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Diseases like Mastitis and worm infestations show physiological signs days before visible symptoms. Without tools, farmers detect illness only after serious damage has occurred.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320040" y="1618488"/>
            <a:ext cx="8503800" cy="87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320040" y="1618488"/>
            <a:ext cx="594300" cy="877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320040" y="1618488"/>
            <a:ext cx="5943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imes New Roman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1005840" y="1709928"/>
            <a:ext cx="7680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Non-Availability of Veterinary Doctors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1005840" y="2002536"/>
            <a:ext cx="7680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observed during my RAWE field programme at Kothanuru, Chikkaballapur, non-availability of veterinary doctors at all times was the most commonly reported challenge by farmers.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320040" y="2642616"/>
            <a:ext cx="8503800" cy="8778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320040" y="2642616"/>
            <a:ext cx="594300" cy="877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320040" y="2642616"/>
            <a:ext cx="5943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imes New Roman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1005840" y="2734056"/>
            <a:ext cx="7680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Absence of Data-Driven Decision Support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1005840" y="3026664"/>
            <a:ext cx="7680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Farmers rely on traditional remedies without any scientific basis for assessing disease type or severity. No affordable digital tool currently exists for smallholder farmers in Karnataka.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320040" y="3666744"/>
            <a:ext cx="8503800" cy="87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320040" y="3666744"/>
            <a:ext cx="594300" cy="877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320040" y="3666744"/>
            <a:ext cx="5943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imes New Roman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1005840" y="3758184"/>
            <a:ext cx="7680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Economic Impact on Agribusiness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1005840" y="4050792"/>
            <a:ext cx="7680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Sick animals produce less milk and meat, and may die. This directly reduces agribusiness income and profitability for farming households.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                                                                                                                                      4 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"/>
          <p:cNvSpPr/>
          <p:nvPr/>
        </p:nvSpPr>
        <p:spPr>
          <a:xfrm>
            <a:off x="365730" y="949025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 Field Experience — RAWE </a:t>
            </a:r>
            <a:r>
              <a:rPr lang="en-US" sz="1200" b="1" i="0" u="none" strike="noStrike" cap="none" dirty="0" err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Programme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"/>
          <p:cNvSpPr/>
          <p:nvPr/>
        </p:nvSpPr>
        <p:spPr>
          <a:xfrm>
            <a:off x="411480" y="1270340"/>
            <a:ext cx="82296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During </a:t>
            </a:r>
            <a:r>
              <a:rPr lang="en-US" sz="120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</a:t>
            </a: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RAWE field </a:t>
            </a:r>
            <a:r>
              <a:rPr lang="en-US" sz="120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programme</a:t>
            </a: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20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</a:t>
            </a: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participated in an Animal Health Camp at </a:t>
            </a:r>
            <a:r>
              <a:rPr lang="en-US" sz="120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Kothanuru</a:t>
            </a: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village, </a:t>
            </a:r>
            <a:r>
              <a:rPr lang="en-US" sz="120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Chikkaballapur</a:t>
            </a: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District. </a:t>
            </a:r>
            <a:r>
              <a:rPr lang="en-US" sz="120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</a:t>
            </a: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personally observed farmers struggling with sick animals and no veterinary doctor available. This direct experience was the primary motivation for choosing this project topic.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"/>
          <p:cNvSpPr/>
          <p:nvPr/>
        </p:nvSpPr>
        <p:spPr>
          <a:xfrm>
            <a:off x="411420" y="2162537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 dirty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Economic Necessity for Farmers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"/>
          <p:cNvSpPr/>
          <p:nvPr/>
        </p:nvSpPr>
        <p:spPr>
          <a:xfrm>
            <a:off x="457170" y="2501580"/>
            <a:ext cx="82296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Livestock disease causes 15 to 20 percent productivity loss annually in Indian farms. Early AI-based detection enables timely treatment, reducing animal mortality and protecting the financial income of farming households.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"/>
          <p:cNvSpPr/>
          <p:nvPr/>
        </p:nvSpPr>
        <p:spPr>
          <a:xfrm>
            <a:off x="457170" y="3338368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 dirty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Accessibility of Machine Learning Tools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"/>
          <p:cNvSpPr/>
          <p:nvPr/>
        </p:nvSpPr>
        <p:spPr>
          <a:xfrm>
            <a:off x="457170" y="3671664"/>
            <a:ext cx="82296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 tools such as Google </a:t>
            </a:r>
            <a:r>
              <a:rPr lang="en-US" sz="120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Colaboratory</a:t>
            </a: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publicly available datasets from </a:t>
            </a:r>
            <a:r>
              <a:rPr lang="en-US" sz="120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Kaggle</a:t>
            </a: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allow a fully functional ML model to be built at zero cost. This project demonstrates that AI can be made practically useful even within academic constraints.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 of the Project                                                                                                               5 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411480" y="594360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 Objectives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365760" y="932688"/>
            <a:ext cx="8412600" cy="6402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365760" y="932688"/>
            <a:ext cx="457200" cy="640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365760" y="932688"/>
            <a:ext cx="457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imes New Roman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914400" y="960120"/>
            <a:ext cx="77724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and validate a Random Forest Classifier that predicts livestock disease status (Healthy / Diseased) from five health parameters.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365760" y="1682496"/>
            <a:ext cx="8412600" cy="64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365760" y="1682496"/>
            <a:ext cx="457200" cy="640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365760" y="1682496"/>
            <a:ext cx="457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imes New Roman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914400" y="1709928"/>
            <a:ext cx="77724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the most important health indicators that predict disease using the model's built-in feature importance analysis.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365760" y="2432304"/>
            <a:ext cx="8412600" cy="6402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365760" y="2432304"/>
            <a:ext cx="457200" cy="640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365760" y="2432304"/>
            <a:ext cx="457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imes New Roman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914400" y="2459736"/>
            <a:ext cx="77724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 model performance using Accuracy, Precision, Recall, F1-Score, and Confusion Matrix on a Kaggle livestock dataset.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365760" y="3182112"/>
            <a:ext cx="8412600" cy="64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365760" y="3182112"/>
            <a:ext cx="457200" cy="640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365760" y="3182112"/>
            <a:ext cx="457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imes New Roman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914400" y="3209544"/>
            <a:ext cx="77724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Demonstrate practical agribusiness value: show that early detection reduces losses and improves farm profitability.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411480" y="3986784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Secondary Objectives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502920" y="4315968"/>
            <a:ext cx="82296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  Gain hands-on experience with Python ML libraries: scikit-learn, pandas, NumPy, matplotlib, seaborn.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502920" y="4544568"/>
            <a:ext cx="82296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(2)  Visualise results using feature importance graphs and confusion matrix heatmaps.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457195" y="4773168"/>
            <a:ext cx="82296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(3)  Connect personal field observations from the Kothanuru RAWE camp with data-driven analysis.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Field Data Collection — RAWE Animal Health Camp                                                              6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411420" y="713370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 dirty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 Data Collected During RAWE </a:t>
            </a:r>
            <a:r>
              <a:rPr lang="en-US" sz="1200" b="1" i="0" u="none" strike="noStrike" cap="none" dirty="0" err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Programme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411480" y="1005870"/>
            <a:ext cx="83211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part of </a:t>
            </a:r>
            <a:r>
              <a:rPr lang="en-US" sz="120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</a:t>
            </a: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RAWE field </a:t>
            </a:r>
            <a:r>
              <a:rPr lang="en-US" sz="120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programme</a:t>
            </a: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20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</a:t>
            </a: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participated in an Animal Health Camp conducted at </a:t>
            </a:r>
            <a:r>
              <a:rPr lang="en-US" sz="120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Kothanuru</a:t>
            </a: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village, </a:t>
            </a:r>
            <a:r>
              <a:rPr lang="en-US" sz="120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Chikkaballapur</a:t>
            </a: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District, Karnataka. </a:t>
            </a:r>
            <a:r>
              <a:rPr lang="en-US" sz="120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</a:t>
            </a: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collected first-hand data on animal health conditions, farmer challenges, and veterinary observations at this camp. These observations directly informed the design of this project.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8" name="Google Shape;218;p8"/>
          <p:cNvGraphicFramePr/>
          <p:nvPr>
            <p:extLst>
              <p:ext uri="{D42A27DB-BD31-4B8C-83A1-F6EECF244321}">
                <p14:modId xmlns:p14="http://schemas.microsoft.com/office/powerpoint/2010/main" val="1557290893"/>
              </p:ext>
            </p:extLst>
          </p:nvPr>
        </p:nvGraphicFramePr>
        <p:xfrm>
          <a:off x="411480" y="1984248"/>
          <a:ext cx="8412475" cy="2240250"/>
        </p:xfrm>
        <a:graphic>
          <a:graphicData uri="http://schemas.openxmlformats.org/drawingml/2006/table">
            <a:tbl>
              <a:tblPr>
                <a:noFill/>
                <a:tableStyleId>{BEB0943C-6F6F-4075-874C-0561493E9689}</a:tableStyleId>
              </a:tblPr>
              <a:tblGrid>
                <a:gridCol w="292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8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Particulars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Details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b="1" u="none" strike="noStrike" cap="non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Location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Kothanuru Village, Varadhanayaka Nahalli, Sidlagatta Taluk, Chikkaballapur District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b="1" u="none" strike="noStrike" cap="non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Date of Camp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15th September 2025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b="1" u="none" strike="noStrike" cap="none" dirty="0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Students Participated</a:t>
                      </a:r>
                      <a:endParaRPr sz="11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u="none" strike="noStrike" cap="none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 students</a:t>
                      </a:r>
                      <a:endParaRPr sz="11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b="1" u="none" strike="noStrike" cap="non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Farmers Participated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u="none" strike="noStrike" cap="none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106 farmers</a:t>
                      </a:r>
                      <a:endParaRPr sz="11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Field Data — Animals Treated at the Camp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"/>
          <p:cNvSpPr/>
          <p:nvPr/>
        </p:nvSpPr>
        <p:spPr>
          <a:xfrm>
            <a:off x="411480" y="594360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Animal Health Data Collected at Kothanuru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"/>
          <p:cNvSpPr/>
          <p:nvPr/>
        </p:nvSpPr>
        <p:spPr>
          <a:xfrm>
            <a:off x="365760" y="1005840"/>
            <a:ext cx="4023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Treatment Summary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6" name="Google Shape;446;p3"/>
          <p:cNvGraphicFramePr/>
          <p:nvPr/>
        </p:nvGraphicFramePr>
        <p:xfrm>
          <a:off x="365760" y="1325880"/>
          <a:ext cx="4023350" cy="1688605"/>
        </p:xfrm>
        <a:graphic>
          <a:graphicData uri="http://schemas.openxmlformats.org/drawingml/2006/table">
            <a:tbl>
              <a:tblPr>
                <a:noFill/>
                <a:tableStyleId>{19A4644A-9B7A-4D92-A59B-C3D36C9973C5}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Treatment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Number of Animals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Vaccination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74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Deworming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Infertility Cases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47" name="Google Shape;447;p3"/>
          <p:cNvSpPr/>
          <p:nvPr/>
        </p:nvSpPr>
        <p:spPr>
          <a:xfrm>
            <a:off x="4754880" y="1005840"/>
            <a:ext cx="4023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of Animals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8" name="Google Shape;448;p3"/>
          <p:cNvGraphicFramePr/>
          <p:nvPr/>
        </p:nvGraphicFramePr>
        <p:xfrm>
          <a:off x="4754880" y="1325880"/>
          <a:ext cx="4023350" cy="3474800"/>
        </p:xfrm>
        <a:graphic>
          <a:graphicData uri="http://schemas.openxmlformats.org/drawingml/2006/table">
            <a:tbl>
              <a:tblPr>
                <a:noFill/>
                <a:tableStyleId>{19A4644A-9B7A-4D92-A59B-C3D36C9973C5}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 of Animal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Number Treated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Cattle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Buffaloes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Sheep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Goats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Poultry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Dogs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Calves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49" name="Google Shape;449;p3"/>
          <p:cNvSpPr/>
          <p:nvPr/>
        </p:nvSpPr>
        <p:spPr>
          <a:xfrm>
            <a:off x="365760" y="3127248"/>
            <a:ext cx="402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Times New Roman"/>
              <a:buNone/>
            </a:pPr>
            <a:r>
              <a:rPr lang="en-US" sz="11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animals attended at the camp: 303 and above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"/>
          <p:cNvSpPr/>
          <p:nvPr/>
        </p:nvSpPr>
        <p:spPr>
          <a:xfrm>
            <a:off x="365760" y="3520440"/>
            <a:ext cx="4023300" cy="13716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"/>
          <p:cNvSpPr/>
          <p:nvPr/>
        </p:nvSpPr>
        <p:spPr>
          <a:xfrm>
            <a:off x="365760" y="3520440"/>
            <a:ext cx="4023300" cy="274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"/>
          <p:cNvSpPr/>
          <p:nvPr/>
        </p:nvSpPr>
        <p:spPr>
          <a:xfrm>
            <a:off x="365760" y="3520440"/>
            <a:ext cx="4023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Awareness Activities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"/>
          <p:cNvSpPr/>
          <p:nvPr/>
        </p:nvSpPr>
        <p:spPr>
          <a:xfrm>
            <a:off x="457200" y="3840480"/>
            <a:ext cx="38406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Leaflets/Pamphlets Distributed: 317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Posters/Banners Displayed: 8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Awareness Talks Delivered: Yes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Duration: 5 Hours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4" name="Google Shape;45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897"/>
            <a:ext cx="9144000" cy="511770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78C95F-DD6F-8442-393E-C04BFDFA99D1}"/>
              </a:ext>
            </a:extLst>
          </p:cNvPr>
          <p:cNvSpPr txBox="1"/>
          <p:nvPr/>
        </p:nvSpPr>
        <p:spPr>
          <a:xfrm>
            <a:off x="8567934" y="787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Field Data — Key Observations and Findings                                                                           8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411480" y="594360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Health Problems Observed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365760" y="932688"/>
            <a:ext cx="8412600" cy="5121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365760" y="932688"/>
            <a:ext cx="54900" cy="5121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502920" y="950976"/>
            <a:ext cx="2560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Indigestion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3063240" y="950976"/>
            <a:ext cx="56235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common problem observed in cattle and buffaloes at the camp.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365760" y="1527048"/>
            <a:ext cx="8412600" cy="512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365760" y="1527048"/>
            <a:ext cx="54900" cy="5121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502920" y="1545336"/>
            <a:ext cx="2560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Worm Infestation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3063240" y="1545336"/>
            <a:ext cx="56235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Found widely in sheep and goats. Most animals required deworming treatment.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365760" y="2121408"/>
            <a:ext cx="8412600" cy="5121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365760" y="2121408"/>
            <a:ext cx="54900" cy="5121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502920" y="2139696"/>
            <a:ext cx="2560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Mastitis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3063240" y="2139696"/>
            <a:ext cx="56235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Udder infection observed in dairy cattle, causing significant drop in milk production.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411480" y="2761488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Reported by Farmers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411480" y="3090672"/>
            <a:ext cx="83211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Non-availability of veterinary doctors at all times was the single most commonly reported challenge by all 106 farmers present. Farmers reported relying on local methods — neem with turmeric and garlic in neem oil for external wounds — due to the absence of professional veterinary support.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411480" y="3913632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Connection to This Project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411480" y="4224528"/>
            <a:ext cx="8321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three diseases observed at </a:t>
            </a:r>
            <a:r>
              <a:rPr lang="en-US" sz="120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Kothanuru</a:t>
            </a: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Indigestion, Worm infestations, and Mastitis — all produce measurable changes in body temperature, milk production, and activity level. These are precisely the features used in this AI model, validating its practical relevance.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4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Overview                                                                                                                           9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4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4"/>
          <p:cNvSpPr/>
          <p:nvPr/>
        </p:nvSpPr>
        <p:spPr>
          <a:xfrm>
            <a:off x="411480" y="594360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Secondary Dataset — Kaggle Livestock Health and Disease Dataset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4"/>
          <p:cNvSpPr/>
          <p:nvPr/>
        </p:nvSpPr>
        <p:spPr>
          <a:xfrm>
            <a:off x="411480" y="932688"/>
            <a:ext cx="83211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addition to primary observations from the RAWE camp, </a:t>
            </a:r>
            <a:r>
              <a:rPr lang="en-US" sz="12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</a:t>
            </a: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used a publicly available dataset from Kaggle for training the Machine Learning model. This dataset contains real animal health records with a binary label: Healthy (0) or Diseased (1).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1" name="Google Shape;461;p4"/>
          <p:cNvGraphicFramePr/>
          <p:nvPr/>
        </p:nvGraphicFramePr>
        <p:xfrm>
          <a:off x="365760" y="1664208"/>
          <a:ext cx="8412475" cy="3264450"/>
        </p:xfrm>
        <a:graphic>
          <a:graphicData uri="http://schemas.openxmlformats.org/drawingml/2006/table">
            <a:tbl>
              <a:tblPr>
                <a:noFill/>
                <a:tableStyleId>{19A4644A-9B7A-4D92-A59B-C3D36C9973C5}</a:tableStyleId>
              </a:tblPr>
              <a:tblGrid>
                <a:gridCol w="310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Parameter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Details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b="1" u="none" strike="noStrike" cap="non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 Source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Kaggle — Livestock Health and Disease Dataset (free public download)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b="1" u="none" strike="noStrike" cap="non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Number of Records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Approximately 1,500 animal health records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b="1" u="none" strike="noStrike" cap="non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Number of Features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input features + 1 target label (Disease Status)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b="1" u="none" strike="noStrike" cap="non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Target Variable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Disease Status: 0 = Healthy,  1 = Diseased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b="1" u="none" strike="noStrike" cap="non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Train-Test Split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80% Training / 20% Testing  (random_state = 42)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b="1" u="none" strike="noStrike" cap="non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File Format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CSV (.csv) — loaded using pandas read_csv()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535" y="152399"/>
            <a:ext cx="8510929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E36B27-D630-AE79-9783-C43AE699D14D}"/>
              </a:ext>
            </a:extLst>
          </p:cNvPr>
          <p:cNvSpPr txBox="1"/>
          <p:nvPr/>
        </p:nvSpPr>
        <p:spPr>
          <a:xfrm>
            <a:off x="8328074" y="24618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 / Approach — Workflow                                                                                      11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320040" y="594360"/>
            <a:ext cx="4114800" cy="13260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3"/>
          <p:cNvSpPr/>
          <p:nvPr/>
        </p:nvSpPr>
        <p:spPr>
          <a:xfrm>
            <a:off x="320040" y="594360"/>
            <a:ext cx="4114800" cy="347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3"/>
          <p:cNvSpPr/>
          <p:nvPr/>
        </p:nvSpPr>
        <p:spPr>
          <a:xfrm>
            <a:off x="411480" y="594360"/>
            <a:ext cx="3931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  Collect Dataset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429768" y="1014984"/>
            <a:ext cx="38952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Download Livestock Health Dataset from Kaggle (CSV, 1,500 records)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4754880" y="594360"/>
            <a:ext cx="4114800" cy="1326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4754880" y="594360"/>
            <a:ext cx="4114800" cy="347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3"/>
          <p:cNvSpPr/>
          <p:nvPr/>
        </p:nvSpPr>
        <p:spPr>
          <a:xfrm>
            <a:off x="4846320" y="594360"/>
            <a:ext cx="3931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  Preprocess Data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4864608" y="1014984"/>
            <a:ext cx="38952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 missing values (dropna), encode Activity Level using LabelEncoder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320040" y="2075688"/>
            <a:ext cx="4114800" cy="13260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3"/>
          <p:cNvSpPr/>
          <p:nvPr/>
        </p:nvSpPr>
        <p:spPr>
          <a:xfrm>
            <a:off x="320040" y="2075688"/>
            <a:ext cx="4114800" cy="347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411480" y="2075688"/>
            <a:ext cx="3931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  Train RF Model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429768" y="2496312"/>
            <a:ext cx="38952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Random Forest Classifier — 100 trees, 80/20 train-test split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4754880" y="2075688"/>
            <a:ext cx="4114800" cy="1326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3"/>
          <p:cNvSpPr/>
          <p:nvPr/>
        </p:nvSpPr>
        <p:spPr>
          <a:xfrm>
            <a:off x="4754880" y="2075688"/>
            <a:ext cx="4114800" cy="347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3"/>
          <p:cNvSpPr/>
          <p:nvPr/>
        </p:nvSpPr>
        <p:spPr>
          <a:xfrm>
            <a:off x="4846320" y="2075688"/>
            <a:ext cx="3931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4:  Evaluate Model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4864608" y="2496312"/>
            <a:ext cx="38952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 Accuracy, Precision, Recall, F1-Score, plot Confusion Matrix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320040" y="3557016"/>
            <a:ext cx="4114800" cy="13260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320040" y="3557016"/>
            <a:ext cx="4114800" cy="347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411480" y="3557016"/>
            <a:ext cx="3931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5:  Feature Importance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429768" y="3977640"/>
            <a:ext cx="38952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which health parameter contributes most to prediction accuracy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4754880" y="3557016"/>
            <a:ext cx="4114800" cy="1326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3"/>
          <p:cNvSpPr/>
          <p:nvPr/>
        </p:nvSpPr>
        <p:spPr>
          <a:xfrm>
            <a:off x="4754880" y="3557016"/>
            <a:ext cx="4114800" cy="347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3"/>
          <p:cNvSpPr/>
          <p:nvPr/>
        </p:nvSpPr>
        <p:spPr>
          <a:xfrm>
            <a:off x="4846320" y="3557016"/>
            <a:ext cx="3931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6:  Predict and Advise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4864608" y="3977640"/>
            <a:ext cx="38952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new animal data — model outputs Healthy or Diseased with probability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4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4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— Random Forest Classifier                                                                                    12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4"/>
          <p:cNvSpPr/>
          <p:nvPr/>
        </p:nvSpPr>
        <p:spPr>
          <a:xfrm>
            <a:off x="411480" y="594360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Random Forest?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411480" y="932688"/>
            <a:ext cx="83211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 is an ensemble learning algorithm that builds a large number of Decision Trees during training. Each tree is built on a random subset of the data (bootstrap sampling). For classification, the final prediction is determined by majority vote across all trees.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411480" y="1755648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Random Forest for this project?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365760" y="2103120"/>
            <a:ext cx="8412600" cy="4023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4"/>
          <p:cNvSpPr/>
          <p:nvPr/>
        </p:nvSpPr>
        <p:spPr>
          <a:xfrm>
            <a:off x="365760" y="2103120"/>
            <a:ext cx="54900" cy="4023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4"/>
          <p:cNvSpPr/>
          <p:nvPr/>
        </p:nvSpPr>
        <p:spPr>
          <a:xfrm>
            <a:off x="512064" y="2103120"/>
            <a:ext cx="81930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Handles both continuous (temperature, heart rate) and categorical (activity level) features without extra preprocessing.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365760" y="2578608"/>
            <a:ext cx="8412600" cy="40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4"/>
          <p:cNvSpPr/>
          <p:nvPr/>
        </p:nvSpPr>
        <p:spPr>
          <a:xfrm>
            <a:off x="365760" y="2578608"/>
            <a:ext cx="54900" cy="4023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4"/>
          <p:cNvSpPr/>
          <p:nvPr/>
        </p:nvSpPr>
        <p:spPr>
          <a:xfrm>
            <a:off x="512064" y="2578608"/>
            <a:ext cx="81930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 to noise — the ensemble majority vote reduces errors from individual trees.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365760" y="3054096"/>
            <a:ext cx="8412600" cy="4023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4"/>
          <p:cNvSpPr/>
          <p:nvPr/>
        </p:nvSpPr>
        <p:spPr>
          <a:xfrm>
            <a:off x="365760" y="3054096"/>
            <a:ext cx="54900" cy="4023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4"/>
          <p:cNvSpPr/>
          <p:nvPr/>
        </p:nvSpPr>
        <p:spPr>
          <a:xfrm>
            <a:off x="512064" y="3054096"/>
            <a:ext cx="81930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not require feature scaling, unlike SVM or Neural Networks.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365760" y="3529584"/>
            <a:ext cx="8412600" cy="40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4"/>
          <p:cNvSpPr/>
          <p:nvPr/>
        </p:nvSpPr>
        <p:spPr>
          <a:xfrm>
            <a:off x="365760" y="3529584"/>
            <a:ext cx="54900" cy="4023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4"/>
          <p:cNvSpPr/>
          <p:nvPr/>
        </p:nvSpPr>
        <p:spPr>
          <a:xfrm>
            <a:off x="512064" y="3529584"/>
            <a:ext cx="81930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built-in Feature Importance scores — clearly shows which health parameter drives disease prediction.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365760" y="4005072"/>
            <a:ext cx="8412600" cy="4023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365760" y="4005072"/>
            <a:ext cx="54900" cy="4023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4"/>
          <p:cNvSpPr/>
          <p:nvPr/>
        </p:nvSpPr>
        <p:spPr>
          <a:xfrm>
            <a:off x="512064" y="4005072"/>
            <a:ext cx="81930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Achieves 90 to 95 percent accuracy on animal health classification tasks as documented in recent research.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365760" y="4480560"/>
            <a:ext cx="8412600" cy="40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4"/>
          <p:cNvSpPr/>
          <p:nvPr/>
        </p:nvSpPr>
        <p:spPr>
          <a:xfrm>
            <a:off x="365760" y="4480560"/>
            <a:ext cx="54900" cy="4023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4"/>
          <p:cNvSpPr/>
          <p:nvPr/>
        </p:nvSpPr>
        <p:spPr>
          <a:xfrm>
            <a:off x="512064" y="4480560"/>
            <a:ext cx="81930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to implement using scikit-learn in Python — suitable for beginner-level coding.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6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and Technologies Used                                                                                                       13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6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72" name="Google Shape;472;p6"/>
          <p:cNvGraphicFramePr/>
          <p:nvPr/>
        </p:nvGraphicFramePr>
        <p:xfrm>
          <a:off x="320040" y="594360"/>
          <a:ext cx="8503925" cy="4361625"/>
        </p:xfrm>
        <a:graphic>
          <a:graphicData uri="http://schemas.openxmlformats.org/drawingml/2006/table">
            <a:tbl>
              <a:tblPr>
                <a:noFill/>
                <a:tableStyleId>{7EB599CC-3C25-43D8-9DA9-8CB906960935}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4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Tool / Library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Role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5A8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b="1" u="none" strike="noStrike" cap="none">
                          <a:solidFill>
                            <a:srgbClr val="3D5A8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Python 3.x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Primary programming language — simple syntax, rich ML libraries.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5A8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b="1" u="none" strike="noStrike" cap="none">
                          <a:solidFill>
                            <a:srgbClr val="3D5A8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Google Colaboratory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Free cloud-based Jupyter Notebook environment. No installation required.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5A8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b="1" u="none" strike="noStrike" cap="none">
                          <a:solidFill>
                            <a:srgbClr val="3D5A8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pandas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loading, cleaning, and preprocessing of the CSV dataset.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5A8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b="1" u="none" strike="noStrike" cap="none">
                          <a:solidFill>
                            <a:srgbClr val="3D5A8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scikit-learn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RandomForestClassifier, train_test_split, accuracy_score, classification_report.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5A8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b="1" u="none" strike="noStrike" cap="none">
                          <a:solidFill>
                            <a:srgbClr val="3D5A8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matplotlib / seaborn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Confusion matrix heatmap, feature importance bar chart, class distribution plot.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5A8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b="1" u="none" strike="noStrike" cap="none">
                          <a:solidFill>
                            <a:srgbClr val="3D5A8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NumPy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Numerical operations underlying pandas and scikit-learn.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5A8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b="1" u="none" strike="noStrike" cap="none">
                          <a:solidFill>
                            <a:srgbClr val="3D5A8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Kaggle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 of the Livestock Health and Disease Dataset — free public download.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5A8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b="1" u="none" strike="noStrike" cap="none">
                          <a:solidFill>
                            <a:srgbClr val="3D5A8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Google Drive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 and notebook storage, backup, and version management.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5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5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— Model Performance Metrics                                                                                     14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5"/>
          <p:cNvSpPr/>
          <p:nvPr/>
        </p:nvSpPr>
        <p:spPr>
          <a:xfrm>
            <a:off x="411480" y="594360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on 20% Test Set (300 records, random_state = 42)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"/>
          <p:cNvSpPr/>
          <p:nvPr/>
        </p:nvSpPr>
        <p:spPr>
          <a:xfrm>
            <a:off x="320040" y="1005840"/>
            <a:ext cx="8503800" cy="8229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5"/>
          <p:cNvSpPr/>
          <p:nvPr/>
        </p:nvSpPr>
        <p:spPr>
          <a:xfrm>
            <a:off x="320040" y="1005840"/>
            <a:ext cx="2194500" cy="8229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5"/>
          <p:cNvSpPr/>
          <p:nvPr/>
        </p:nvSpPr>
        <p:spPr>
          <a:xfrm>
            <a:off x="347472" y="1078992"/>
            <a:ext cx="213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347472" y="1389888"/>
            <a:ext cx="21396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D8F0"/>
              </a:buClr>
              <a:buSzPts val="2000"/>
              <a:buFont typeface="Times New Roman"/>
              <a:buNone/>
            </a:pPr>
            <a:r>
              <a:rPr lang="en-US" sz="2000" b="1" i="0" u="none" strike="noStrike" cap="none">
                <a:solidFill>
                  <a:srgbClr val="C9D8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92.4%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2651760" y="1207008"/>
            <a:ext cx="6035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correctly classified 92.4% of all animals in the test set.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320040" y="1965960"/>
            <a:ext cx="8503800" cy="82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5"/>
          <p:cNvSpPr/>
          <p:nvPr/>
        </p:nvSpPr>
        <p:spPr>
          <a:xfrm>
            <a:off x="320040" y="1965960"/>
            <a:ext cx="2194500" cy="8229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5"/>
          <p:cNvSpPr/>
          <p:nvPr/>
        </p:nvSpPr>
        <p:spPr>
          <a:xfrm>
            <a:off x="347472" y="2039112"/>
            <a:ext cx="213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Precision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347472" y="2350008"/>
            <a:ext cx="21396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D8F0"/>
              </a:buClr>
              <a:buSzPts val="2000"/>
              <a:buFont typeface="Times New Roman"/>
              <a:buNone/>
            </a:pPr>
            <a:r>
              <a:rPr lang="en-US" sz="2000" b="1" i="0" u="none" strike="noStrike" cap="none">
                <a:solidFill>
                  <a:srgbClr val="C9D8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91.8%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2651760" y="2167128"/>
            <a:ext cx="6035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all animals predicted as diseased, 91.8% were genuinely diseased.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320040" y="2926080"/>
            <a:ext cx="8503800" cy="8229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5"/>
          <p:cNvSpPr/>
          <p:nvPr/>
        </p:nvSpPr>
        <p:spPr>
          <a:xfrm>
            <a:off x="320040" y="2926080"/>
            <a:ext cx="2194500" cy="8229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5"/>
          <p:cNvSpPr/>
          <p:nvPr/>
        </p:nvSpPr>
        <p:spPr>
          <a:xfrm>
            <a:off x="347472" y="2999232"/>
            <a:ext cx="213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Recall (Sensitivity)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347472" y="3310128"/>
            <a:ext cx="21396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D8F0"/>
              </a:buClr>
              <a:buSzPts val="2000"/>
              <a:buFont typeface="Times New Roman"/>
              <a:buNone/>
            </a:pPr>
            <a:r>
              <a:rPr lang="en-US" sz="2000" b="1" i="0" u="none" strike="noStrike" cap="none">
                <a:solidFill>
                  <a:srgbClr val="C9D8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93.1%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2651760" y="3127248"/>
            <a:ext cx="6035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93.1% of all actually diseased animals were correctly identified.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320040" y="3886200"/>
            <a:ext cx="8503800" cy="82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5"/>
          <p:cNvSpPr/>
          <p:nvPr/>
        </p:nvSpPr>
        <p:spPr>
          <a:xfrm>
            <a:off x="320040" y="3886200"/>
            <a:ext cx="2194500" cy="8229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5"/>
          <p:cNvSpPr/>
          <p:nvPr/>
        </p:nvSpPr>
        <p:spPr>
          <a:xfrm>
            <a:off x="347472" y="3959352"/>
            <a:ext cx="213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F1-Score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5"/>
          <p:cNvSpPr/>
          <p:nvPr/>
        </p:nvSpPr>
        <p:spPr>
          <a:xfrm>
            <a:off x="347472" y="4270248"/>
            <a:ext cx="21396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D8F0"/>
              </a:buClr>
              <a:buSzPts val="2000"/>
              <a:buFont typeface="Times New Roman"/>
              <a:buNone/>
            </a:pPr>
            <a:r>
              <a:rPr lang="en-US" sz="2000" b="1" i="0" u="none" strike="noStrike" cap="none">
                <a:solidFill>
                  <a:srgbClr val="C9D8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92.4%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2651760" y="4087368"/>
            <a:ext cx="6035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Harmonic mean of Precision and Recall — indicates well-balanced performance.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320090" y="4782383"/>
            <a:ext cx="8503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Times New Roman"/>
              <a:buNone/>
            </a:pPr>
            <a:r>
              <a:rPr lang="en-US" sz="1000" b="0" i="1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Accuracy: approx. 97%   |   Minimal overfitting observed   |   Strong generalisation to unseen data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6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6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— Feature Importance Analysis                                                                                   15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6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6"/>
          <p:cNvSpPr/>
          <p:nvPr/>
        </p:nvSpPr>
        <p:spPr>
          <a:xfrm>
            <a:off x="411480" y="594360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health parameter contributes most to disease prediction?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/>
          <p:nvPr/>
        </p:nvSpPr>
        <p:spPr>
          <a:xfrm>
            <a:off x="411480" y="932688"/>
            <a:ext cx="83211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Random Forest model assigns an importance score to each input feature, indicating how much it contributes to accurate prediction. Higher score means greater predictive value.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/>
          <p:nvPr/>
        </p:nvSpPr>
        <p:spPr>
          <a:xfrm>
            <a:off x="365760" y="1572768"/>
            <a:ext cx="2560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Body Temperature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6"/>
          <p:cNvSpPr/>
          <p:nvPr/>
        </p:nvSpPr>
        <p:spPr>
          <a:xfrm>
            <a:off x="3017520" y="1719072"/>
            <a:ext cx="5266800" cy="2559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6"/>
          <p:cNvSpPr/>
          <p:nvPr/>
        </p:nvSpPr>
        <p:spPr>
          <a:xfrm>
            <a:off x="8394192" y="1572768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0.32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6"/>
          <p:cNvSpPr/>
          <p:nvPr/>
        </p:nvSpPr>
        <p:spPr>
          <a:xfrm>
            <a:off x="365760" y="2194560"/>
            <a:ext cx="2560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Milk Production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6"/>
          <p:cNvSpPr/>
          <p:nvPr/>
        </p:nvSpPr>
        <p:spPr>
          <a:xfrm>
            <a:off x="3017520" y="2340864"/>
            <a:ext cx="3950100" cy="2559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6"/>
          <p:cNvSpPr/>
          <p:nvPr/>
        </p:nvSpPr>
        <p:spPr>
          <a:xfrm>
            <a:off x="7077456" y="2194560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0.24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6"/>
          <p:cNvSpPr/>
          <p:nvPr/>
        </p:nvSpPr>
        <p:spPr>
          <a:xfrm>
            <a:off x="365760" y="2816352"/>
            <a:ext cx="2560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Heart Rate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6"/>
          <p:cNvSpPr/>
          <p:nvPr/>
        </p:nvSpPr>
        <p:spPr>
          <a:xfrm>
            <a:off x="3017520" y="2962656"/>
            <a:ext cx="3291900" cy="2559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6"/>
          <p:cNvSpPr/>
          <p:nvPr/>
        </p:nvSpPr>
        <p:spPr>
          <a:xfrm>
            <a:off x="6419088" y="2816352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0.20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6"/>
          <p:cNvSpPr/>
          <p:nvPr/>
        </p:nvSpPr>
        <p:spPr>
          <a:xfrm>
            <a:off x="365760" y="3438144"/>
            <a:ext cx="2560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 Level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6"/>
          <p:cNvSpPr/>
          <p:nvPr/>
        </p:nvSpPr>
        <p:spPr>
          <a:xfrm>
            <a:off x="3017520" y="3584448"/>
            <a:ext cx="2304300" cy="2559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6"/>
          <p:cNvSpPr/>
          <p:nvPr/>
        </p:nvSpPr>
        <p:spPr>
          <a:xfrm>
            <a:off x="5431536" y="3438144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0.14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6"/>
          <p:cNvSpPr/>
          <p:nvPr/>
        </p:nvSpPr>
        <p:spPr>
          <a:xfrm>
            <a:off x="365760" y="4059936"/>
            <a:ext cx="2560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Respiratory Rate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/>
          <p:cNvSpPr/>
          <p:nvPr/>
        </p:nvSpPr>
        <p:spPr>
          <a:xfrm>
            <a:off x="3017520" y="4206240"/>
            <a:ext cx="1645800" cy="2559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6"/>
          <p:cNvSpPr/>
          <p:nvPr/>
        </p:nvSpPr>
        <p:spPr>
          <a:xfrm>
            <a:off x="4773168" y="4059936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0.10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6"/>
          <p:cNvSpPr/>
          <p:nvPr/>
        </p:nvSpPr>
        <p:spPr>
          <a:xfrm>
            <a:off x="365760" y="4736592"/>
            <a:ext cx="54900" cy="274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6"/>
          <p:cNvSpPr/>
          <p:nvPr/>
        </p:nvSpPr>
        <p:spPr>
          <a:xfrm>
            <a:off x="457189" y="471378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Body Temperature is the most important predictor — fever is the primary physiological sign of infection in livestock.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7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7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— Sample Code Output (Google </a:t>
            </a:r>
            <a:r>
              <a:rPr lang="en-US" sz="1700" b="1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Colaboratory</a:t>
            </a: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                                                        16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7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7"/>
          <p:cNvSpPr/>
          <p:nvPr/>
        </p:nvSpPr>
        <p:spPr>
          <a:xfrm>
            <a:off x="548520" y="745427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Times New Roman"/>
              <a:buNone/>
            </a:pPr>
            <a:r>
              <a:rPr lang="en-US" sz="1200" b="0" i="1" u="none" strike="noStrike" cap="none" dirty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following output was produced when the Python code was executed in Google </a:t>
            </a:r>
            <a:r>
              <a:rPr lang="en-US" sz="1200" b="0" i="1" u="none" strike="noStrike" cap="none" dirty="0" err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Colaboratory</a:t>
            </a:r>
            <a:r>
              <a:rPr lang="en-US" sz="1200" b="0" i="1" u="none" strike="noStrike" cap="none" dirty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816651-6EDE-5CE5-6BC2-D400E1AAA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69" y="1262255"/>
            <a:ext cx="6548511" cy="307149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345461-D285-681A-5448-F06FF880F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062" y="491486"/>
            <a:ext cx="7702062" cy="38899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7CD7348-FAB6-1F93-2004-E5CF0BFAB5EC}"/>
              </a:ext>
            </a:extLst>
          </p:cNvPr>
          <p:cNvSpPr txBox="1"/>
          <p:nvPr/>
        </p:nvSpPr>
        <p:spPr>
          <a:xfrm>
            <a:off x="8336772" y="20398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0947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8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8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 / Analysis                                                                                                                    18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8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8"/>
          <p:cNvSpPr/>
          <p:nvPr/>
        </p:nvSpPr>
        <p:spPr>
          <a:xfrm>
            <a:off x="411480" y="594360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Performance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8"/>
          <p:cNvSpPr/>
          <p:nvPr/>
        </p:nvSpPr>
        <p:spPr>
          <a:xfrm>
            <a:off x="502920" y="868680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accuracy of 92.4% and recall of 93.1% confirm that the Random Forest Classifier is reliable for livestock disease prediction. Recall is particularly critical here — failing to detect a sick animal carries a higher cost than a false alarm, since undetected disease can spread to the entire herd.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8"/>
          <p:cNvSpPr/>
          <p:nvPr/>
        </p:nvSpPr>
        <p:spPr>
          <a:xfrm>
            <a:off x="411480" y="1709928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Connection to Personal Field Observations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8"/>
          <p:cNvSpPr/>
          <p:nvPr/>
        </p:nvSpPr>
        <p:spPr>
          <a:xfrm>
            <a:off x="502920" y="1984248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three diseases we observed at </a:t>
            </a:r>
            <a:r>
              <a:rPr lang="en-US" sz="120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Kothanuru</a:t>
            </a: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Mastitis, Worm infestations, and Indigestion — all cause measurable changes in body temperature, milk production, and activity level. These are precisely the top three features in the model (importance: 0.32, 0.24, 0.20), validating the real-world relevance of this approach.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8"/>
          <p:cNvSpPr/>
          <p:nvPr/>
        </p:nvSpPr>
        <p:spPr>
          <a:xfrm>
            <a:off x="411480" y="2825496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Agribusiness Value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8"/>
          <p:cNvSpPr/>
          <p:nvPr/>
        </p:nvSpPr>
        <p:spPr>
          <a:xfrm>
            <a:off x="502920" y="3099816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the 106 farmers we met at </a:t>
            </a:r>
            <a:r>
              <a:rPr lang="en-US" sz="120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Kothanuru</a:t>
            </a: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early disease detection translates directly to preserved milk yield, lower treatment costs, and reduced animal mortality — all of which improve agribusiness profitability.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8"/>
          <p:cNvSpPr/>
          <p:nvPr/>
        </p:nvSpPr>
        <p:spPr>
          <a:xfrm>
            <a:off x="411480" y="3941064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8"/>
          <p:cNvSpPr/>
          <p:nvPr/>
        </p:nvSpPr>
        <p:spPr>
          <a:xfrm>
            <a:off x="502920" y="4215384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model predicts Healthy or Diseased only — it does not identify the specific disease type. The Kaggle dataset may not fully represent Karnataka livestock breeds. Future work should incorporate locally collected field data from RAWE camps.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7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7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and Future Work                                                                                                     19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7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7"/>
          <p:cNvSpPr/>
          <p:nvPr/>
        </p:nvSpPr>
        <p:spPr>
          <a:xfrm>
            <a:off x="411480" y="594360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7"/>
          <p:cNvSpPr/>
          <p:nvPr/>
        </p:nvSpPr>
        <p:spPr>
          <a:xfrm>
            <a:off x="411480" y="932688"/>
            <a:ext cx="8321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successfully developed an AI-based livestock disease prediction system using a Random Forest Classifier, achieving 92.4% accuracy on a Kaggle dataset of 1,500 animal health records. The project was motivated by direct field observations collected during the RAWE Animal Health Camp at Kothanuru village, Chikkaballapur District </a:t>
            </a:r>
            <a:r>
              <a:rPr lang="en-US" sz="12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7"/>
          <p:cNvSpPr/>
          <p:nvPr/>
        </p:nvSpPr>
        <p:spPr>
          <a:xfrm>
            <a:off x="411480" y="1920240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7"/>
          <p:cNvSpPr/>
          <p:nvPr/>
        </p:nvSpPr>
        <p:spPr>
          <a:xfrm>
            <a:off x="365760" y="2286000"/>
            <a:ext cx="8412600" cy="4389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7"/>
          <p:cNvSpPr/>
          <p:nvPr/>
        </p:nvSpPr>
        <p:spPr>
          <a:xfrm>
            <a:off x="365760" y="2286000"/>
            <a:ext cx="54900" cy="4389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7"/>
          <p:cNvSpPr/>
          <p:nvPr/>
        </p:nvSpPr>
        <p:spPr>
          <a:xfrm>
            <a:off x="502920" y="2286000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 Extend to multi-class classification to identify specific disease types such as Mastitis, FMD, and worm infestations.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7"/>
          <p:cNvSpPr/>
          <p:nvPr/>
        </p:nvSpPr>
        <p:spPr>
          <a:xfrm>
            <a:off x="365760" y="2798064"/>
            <a:ext cx="8412600" cy="438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7"/>
          <p:cNvSpPr/>
          <p:nvPr/>
        </p:nvSpPr>
        <p:spPr>
          <a:xfrm>
            <a:off x="365760" y="2798064"/>
            <a:ext cx="54900" cy="4389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7"/>
          <p:cNvSpPr/>
          <p:nvPr/>
        </p:nvSpPr>
        <p:spPr>
          <a:xfrm>
            <a:off x="502920" y="2798064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 Collect animal health data from RAWE camps across Karnataka to build a region-specific training dataset.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7"/>
          <p:cNvSpPr/>
          <p:nvPr/>
        </p:nvSpPr>
        <p:spPr>
          <a:xfrm>
            <a:off x="365760" y="3310128"/>
            <a:ext cx="8412600" cy="4389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7"/>
          <p:cNvSpPr/>
          <p:nvPr/>
        </p:nvSpPr>
        <p:spPr>
          <a:xfrm>
            <a:off x="365760" y="3310128"/>
            <a:ext cx="54900" cy="4389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7"/>
          <p:cNvSpPr/>
          <p:nvPr/>
        </p:nvSpPr>
        <p:spPr>
          <a:xfrm>
            <a:off x="502920" y="331012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 Integrate low-cost IoT sensors for automated, real-time health monitoring on individual farms.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7"/>
          <p:cNvSpPr/>
          <p:nvPr/>
        </p:nvSpPr>
        <p:spPr>
          <a:xfrm>
            <a:off x="365760" y="3822192"/>
            <a:ext cx="8412600" cy="438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7"/>
          <p:cNvSpPr/>
          <p:nvPr/>
        </p:nvSpPr>
        <p:spPr>
          <a:xfrm>
            <a:off x="365760" y="3822192"/>
            <a:ext cx="54900" cy="4389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"/>
          <p:cNvSpPr/>
          <p:nvPr/>
        </p:nvSpPr>
        <p:spPr>
          <a:xfrm>
            <a:off x="502920" y="3822192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 Develop a Kannada-language mobile application to make disease prediction accessible to rural farmers.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7"/>
          <p:cNvSpPr/>
          <p:nvPr/>
        </p:nvSpPr>
        <p:spPr>
          <a:xfrm>
            <a:off x="365760" y="4334256"/>
            <a:ext cx="8412600" cy="4389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7"/>
          <p:cNvSpPr/>
          <p:nvPr/>
        </p:nvSpPr>
        <p:spPr>
          <a:xfrm>
            <a:off x="365760" y="4334256"/>
            <a:ext cx="54900" cy="4389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7"/>
          <p:cNvSpPr/>
          <p:nvPr/>
        </p:nvSpPr>
        <p:spPr>
          <a:xfrm>
            <a:off x="502920" y="4334256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 Evaluate advanced algorithms such as XGBoost and LSTM for improved performance on time-series data.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0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0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                                                                                                                                     20 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0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0"/>
          <p:cNvSpPr/>
          <p:nvPr/>
        </p:nvSpPr>
        <p:spPr>
          <a:xfrm>
            <a:off x="411420" y="1019556"/>
            <a:ext cx="832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Times New Roman"/>
              <a:buNone/>
            </a:pPr>
            <a:r>
              <a:rPr lang="en-US" sz="105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 </a:t>
            </a:r>
            <a:r>
              <a:rPr lang="en-US" sz="105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Panigrahy</a:t>
            </a:r>
            <a:r>
              <a:rPr lang="en-US" sz="105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B. et al. (2025). Comparative Analysis of ML and Deep Learning for Animal Disease Prediction. MDPI Engineering Proceedings, 124(1), 52.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0"/>
          <p:cNvSpPr/>
          <p:nvPr/>
        </p:nvSpPr>
        <p:spPr>
          <a:xfrm>
            <a:off x="411420" y="1552766"/>
            <a:ext cx="832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Times New Roman"/>
              <a:buNone/>
            </a:pPr>
            <a:r>
              <a:rPr lang="en-US" sz="105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 </a:t>
            </a:r>
            <a:r>
              <a:rPr lang="en-US" sz="105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Fragulis</a:t>
            </a:r>
            <a:r>
              <a:rPr lang="en-US" sz="105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G.F. et al. (2025). Cattle Disease Prediction Using Machine Learning Algorithms. MDPI Engineering Proceedings, 107(1), 85.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0"/>
          <p:cNvSpPr/>
          <p:nvPr/>
        </p:nvSpPr>
        <p:spPr>
          <a:xfrm>
            <a:off x="411420" y="2036796"/>
            <a:ext cx="832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Times New Roman"/>
              <a:buNone/>
            </a:pPr>
            <a:r>
              <a:rPr lang="en-US" sz="105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 </a:t>
            </a:r>
            <a:r>
              <a:rPr lang="en-US" sz="105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Swapna</a:t>
            </a:r>
            <a:r>
              <a:rPr lang="en-US" sz="105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P. et al. (2025). Using AI and ML for Early Detection of Cattle Diseases. International Research Journal of Education and Technology.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0"/>
          <p:cNvSpPr/>
          <p:nvPr/>
        </p:nvSpPr>
        <p:spPr>
          <a:xfrm>
            <a:off x="411420" y="2578227"/>
            <a:ext cx="832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Times New Roman"/>
              <a:buNone/>
            </a:pPr>
            <a:r>
              <a:rPr lang="en-US" sz="105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 Magana, A. et al. (2023). ML Approaches to Predict Digital Dermatitis in Dairy Cows Using Sensor Data. Frontiers in Veterinary Science, PMC10722090.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0"/>
          <p:cNvSpPr/>
          <p:nvPr/>
        </p:nvSpPr>
        <p:spPr>
          <a:xfrm>
            <a:off x="411420" y="3010662"/>
            <a:ext cx="832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Times New Roman"/>
              <a:buNone/>
            </a:pPr>
            <a:r>
              <a:rPr lang="en-US" sz="105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 </a:t>
            </a:r>
            <a:r>
              <a:rPr lang="en-US" sz="105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Anitha</a:t>
            </a:r>
            <a:r>
              <a:rPr lang="en-US" sz="105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Rao et al. (2023). Cattle Disease Prediction Using Artificial Intelligence. IJRASET. DOI: 10.22214/ijraset.2023.50535.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0"/>
          <p:cNvSpPr/>
          <p:nvPr/>
        </p:nvSpPr>
        <p:spPr>
          <a:xfrm>
            <a:off x="411420" y="3424428"/>
            <a:ext cx="832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Times New Roman"/>
              <a:buNone/>
            </a:pPr>
            <a:r>
              <a:rPr lang="en-US" sz="105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 Kaggle Inc. (2024). Livestock Health and Disease Dataset. https://www.kaggle.com/datasets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Thank You So Much&quot; Images – Browse 333 Stock Photos, Vectors, and Video |  Adobe Stoc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3350" y="-40821"/>
            <a:ext cx="9277350" cy="533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022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2539</Words>
  <Application>Microsoft Office PowerPoint</Application>
  <PresentationFormat>On-screen Show (16:9)</PresentationFormat>
  <Paragraphs>295</Paragraphs>
  <Slides>24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Special Officer</dc:creator>
  <cp:lastModifiedBy>aishwaryasv49@gmail.com</cp:lastModifiedBy>
  <cp:revision>8</cp:revision>
  <dcterms:modified xsi:type="dcterms:W3CDTF">2026-04-16T03:58:51Z</dcterms:modified>
</cp:coreProperties>
</file>